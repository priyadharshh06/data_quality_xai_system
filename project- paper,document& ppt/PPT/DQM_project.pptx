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32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0E7C8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06640" y="365760"/>
            <a:ext cx="2286000" cy="2286000"/>
          </a:xfrm>
          <a:prstGeom prst="ellipse">
            <a:avLst/>
          </a:prstGeom>
          <a:solidFill>
            <a:srgbClr val="02C39A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E7C8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471383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AI-Based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Data Quality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437343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Noise Detection in Numerical Data Pipelines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Priya Dharshini V   | 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Information Technology | Guide: Dr. A. Akila </a:t>
            </a:r>
            <a:endParaRPr lang="en-US" sz="1250" dirty="0"/>
          </a:p>
        </p:txBody>
      </p:sp>
    </p:spTree>
  </p:cSld>
  <p:clrMapOvr>
    <a:masterClrMapping/>
  </p:clrMapOvr>
  <p:transition spd="slow"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2454"/>
            <a:ext cx="640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000000"/>
                </a:solidFill>
              </a:rPr>
              <a:t>🗄️</a:t>
            </a:r>
            <a:endParaRPr lang="en-US" sz="196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76272" y="777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2176272" y="892454"/>
            <a:ext cx="640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000000"/>
                </a:solidFill>
              </a:rPr>
              <a:t>🤖</a:t>
            </a:r>
            <a:endParaRPr lang="en-US" sz="1960" dirty="0"/>
          </a:p>
        </p:txBody>
      </p:sp>
      <p:sp>
        <p:nvSpPr>
          <p:cNvPr id="11" name="Text 9"/>
          <p:cNvSpPr/>
          <p:nvPr/>
        </p:nvSpPr>
        <p:spPr>
          <a:xfrm>
            <a:off x="2084832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95344" y="777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895344" y="892454"/>
            <a:ext cx="640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000000"/>
                </a:solidFill>
              </a:rPr>
              <a:t>🗳️</a:t>
            </a:r>
            <a:endParaRPr lang="en-US" sz="1960" dirty="0"/>
          </a:p>
        </p:txBody>
      </p:sp>
      <p:sp>
        <p:nvSpPr>
          <p:cNvPr id="14" name="Text 12"/>
          <p:cNvSpPr/>
          <p:nvPr/>
        </p:nvSpPr>
        <p:spPr>
          <a:xfrm>
            <a:off x="3803904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14416" y="777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5614416" y="892454"/>
            <a:ext cx="640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000000"/>
                </a:solidFill>
              </a:rPr>
              <a:t>💡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5522976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33488" y="7772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7333488" y="892454"/>
            <a:ext cx="6400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dirty="0">
                <a:solidFill>
                  <a:srgbClr val="000000"/>
                </a:solidFill>
              </a:rPr>
              <a:t>📊</a:t>
            </a:r>
            <a:endParaRPr lang="en-US" sz="1960" dirty="0"/>
          </a:p>
        </p:txBody>
      </p:sp>
      <p:sp>
        <p:nvSpPr>
          <p:cNvPr id="20" name="Text 18"/>
          <p:cNvSpPr/>
          <p:nvPr/>
        </p:nvSpPr>
        <p:spPr>
          <a:xfrm>
            <a:off x="7242048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15568" y="1069848"/>
            <a:ext cx="713232" cy="73152"/>
          </a:xfrm>
          <a:prstGeom prst="rect">
            <a:avLst/>
          </a:prstGeom>
          <a:solidFill>
            <a:srgbClr val="D5E0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1069848"/>
            <a:ext cx="713232" cy="73152"/>
          </a:xfrm>
          <a:prstGeom prst="rect">
            <a:avLst/>
          </a:prstGeom>
          <a:solidFill>
            <a:srgbClr val="D5E0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53712" y="1069848"/>
            <a:ext cx="713232" cy="73152"/>
          </a:xfrm>
          <a:prstGeom prst="rect">
            <a:avLst/>
          </a:prstGeom>
          <a:solidFill>
            <a:srgbClr val="D5E0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2784" y="1069848"/>
            <a:ext cx="713232" cy="73152"/>
          </a:xfrm>
          <a:prstGeom prst="rect">
            <a:avLst/>
          </a:prstGeom>
          <a:solidFill>
            <a:srgbClr val="D5E0E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1920240"/>
            <a:ext cx="8412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920240"/>
            <a:ext cx="91440" cy="2743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057400"/>
            <a:ext cx="8138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numerical datasets suffer from noise, outliers, and anomalies that reduce ML model reliability.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automates data quality management using an ensemble of three unsupervised ML models.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consensus voting mechanism combines Isolation Forest, LOF, and One-Class SVM predictions.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provides feature-level reasoning for every flagged anomaly.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offers an interactive interface for upload, analysis, and visualization.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91440" cy="3931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686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52728"/>
            <a:ext cx="3886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data pipelines contain hidden noise and anomalies.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is slow, inconsistent, and not scalable.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detect anomalies but cannot explain them.</a:t>
            </a:r>
            <a:endParaRPr lang="en-US" sz="1600" dirty="0"/>
          </a:p>
          <a:p>
            <a:pPr marL="342900" indent="-342900" algn="l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approaches produce high false positive rates.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023360" cy="11430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841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No Explainability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flag anomalies but don't say WHY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4023360" cy="11430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167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No Automation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still do manual inspection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429000"/>
            <a:ext cx="4023360" cy="114300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No Consensus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models are unreliable alone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45152"/>
            <a:ext cx="8412480" cy="2011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Solution: An Automated, Explainable, Multi-Model Data Quality System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82296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92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859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Breunig et 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1704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LOF — density-based local outlier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8412480" cy="694944"/>
          </a:xfrm>
          <a:prstGeom prst="rect">
            <a:avLst/>
          </a:prstGeom>
          <a:solidFill>
            <a:srgbClr val="EAF2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609344"/>
            <a:ext cx="82296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7739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1975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Isolation Forest for efficient anomaly isolation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1401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14016"/>
            <a:ext cx="82296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78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Schölkopf et 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7797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for novelty detection with kernel boundary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8412480" cy="694944"/>
          </a:xfrm>
          <a:prstGeom prst="rect">
            <a:avLst/>
          </a:prstGeom>
          <a:solidFill>
            <a:srgbClr val="EAF2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18688"/>
            <a:ext cx="82296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273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SHAP — unified framework for model explainability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23360"/>
            <a:ext cx="822960" cy="69494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1879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0782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4389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voting shown to outperform single-model detection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2280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existing system combines ensemble detection + SHAP explainability in a unified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66928" cy="11887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9144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Noise 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29844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pipeline from raw data to clean output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22960"/>
            <a:ext cx="566928" cy="11887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704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58968" y="9144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 ML Models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58968" y="129844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Isolation Forest, LOF, One-Class SVM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94560"/>
            <a:ext cx="566928" cy="11887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420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22860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 Voting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67004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anomalies only when majority of models agree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21945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194560"/>
            <a:ext cx="566928" cy="11887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5420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58968" y="22860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Explainability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58968" y="267004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feature-level explanations for every anomaly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566160"/>
            <a:ext cx="566928" cy="11887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9136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24128" y="36576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404164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UI for upload, results, and visualization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35661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566160"/>
            <a:ext cx="566928" cy="118872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91363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A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58968" y="36576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Architecture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58968" y="4041648"/>
            <a:ext cx="3410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reusable Python modules for easy extension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91440" cy="2194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96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8862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Numerical tabular datasets (CSV format)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ML Repository / Kaggle benchmarks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Multi-dimensional continuous variables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ratio: ~5–15% synthetic noise injection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127248"/>
            <a:ext cx="91440" cy="1600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186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Steps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02736"/>
            <a:ext cx="38862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(mean/median imputation)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 using StandardScaler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records before analysis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804672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941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10–50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804672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94183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1K–10K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15544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221992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3591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5–15%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12280" y="2221992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23591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1228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09160" y="3502152"/>
            <a:ext cx="4023360" cy="1600200"/>
          </a:xfrm>
          <a:prstGeom prst="rect">
            <a:avLst/>
          </a:prstGeom>
          <a:solidFill>
            <a:srgbClr val="EAF2F8"/>
          </a:solidFill>
          <a:ln w="19050">
            <a:solidFill>
              <a:srgbClr val="1AA5B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54880" y="37444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Sample Dataset Visualization / Distribution Plot ]</a:t>
            </a:r>
            <a:endParaRPr lang="en-US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1E35501-8911-742C-D9C7-503F74C1D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204" y="3493008"/>
            <a:ext cx="4090035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80851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59229" y="777240"/>
            <a:ext cx="5303520" cy="3291840"/>
          </a:xfrm>
          <a:prstGeom prst="rect">
            <a:avLst/>
          </a:prstGeom>
          <a:solidFill>
            <a:srgbClr val="EAF2F8"/>
          </a:solidFill>
          <a:ln w="19050">
            <a:solidFill>
              <a:srgbClr val="1AA5B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2240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777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Python Modules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207008"/>
            <a:ext cx="292608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1207008"/>
            <a:ext cx="73152" cy="4023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12435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1252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682496"/>
            <a:ext cx="292608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2160" y="1682496"/>
            <a:ext cx="73152" cy="4023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7190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17282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&amp; display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157984"/>
            <a:ext cx="292608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157984"/>
            <a:ext cx="73152" cy="4023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1945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22037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2633472"/>
            <a:ext cx="292608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2633472"/>
            <a:ext cx="73152" cy="4023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26700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26791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3108960"/>
            <a:ext cx="292608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52160" y="3108960"/>
            <a:ext cx="73152" cy="4023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31455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3154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logic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3584448"/>
            <a:ext cx="2926080" cy="40233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52160" y="3584448"/>
            <a:ext cx="73152" cy="4023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362102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explainer.py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89520" y="36301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generation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 Annotated Dataset   +   SHAP Visualizations   +   Quality Report</a:t>
            </a:r>
            <a:endParaRPr lang="en-US" sz="13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6797B0E2-66B2-FDBB-846A-F72FBC8E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68096"/>
            <a:ext cx="5394960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4A1D68-23CE-7EA3-2FE4-06277649AA57}"/>
              </a:ext>
            </a:extLst>
          </p:cNvPr>
          <p:cNvGrpSpPr/>
          <p:nvPr/>
        </p:nvGrpSpPr>
        <p:grpSpPr>
          <a:xfrm>
            <a:off x="379476" y="2100507"/>
            <a:ext cx="8385048" cy="1682496"/>
            <a:chOff x="365760" y="749808"/>
            <a:chExt cx="8385048" cy="1682496"/>
          </a:xfrm>
        </p:grpSpPr>
        <p:sp>
          <p:nvSpPr>
            <p:cNvPr id="6" name="Shape 4"/>
            <p:cNvSpPr/>
            <p:nvPr/>
          </p:nvSpPr>
          <p:spPr>
            <a:xfrm>
              <a:off x="365760" y="777240"/>
              <a:ext cx="1508760" cy="1645920"/>
            </a:xfrm>
            <a:prstGeom prst="rect">
              <a:avLst/>
            </a:prstGeom>
            <a:solidFill>
              <a:srgbClr val="1A2E4A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" name="Shape 5"/>
            <p:cNvSpPr/>
            <p:nvPr/>
          </p:nvSpPr>
          <p:spPr>
            <a:xfrm>
              <a:off x="886968" y="749808"/>
              <a:ext cx="457200" cy="457200"/>
            </a:xfrm>
            <a:prstGeom prst="ellipse">
              <a:avLst/>
            </a:prstGeom>
            <a:solidFill>
              <a:srgbClr val="02C39A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886968" y="7498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084832" y="777240"/>
              <a:ext cx="1508760" cy="1645920"/>
            </a:xfrm>
            <a:prstGeom prst="rect">
              <a:avLst/>
            </a:prstGeom>
            <a:solidFill>
              <a:srgbClr val="1A2E4A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2606040" y="749808"/>
              <a:ext cx="457200" cy="457200"/>
            </a:xfrm>
            <a:prstGeom prst="ellipse">
              <a:avLst/>
            </a:prstGeom>
            <a:solidFill>
              <a:srgbClr val="02C39A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2606040" y="7498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3803904" y="777240"/>
              <a:ext cx="1508760" cy="1645920"/>
            </a:xfrm>
            <a:prstGeom prst="rect">
              <a:avLst/>
            </a:prstGeom>
            <a:solidFill>
              <a:srgbClr val="0E7C86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9" name="Shape 17"/>
            <p:cNvSpPr/>
            <p:nvPr/>
          </p:nvSpPr>
          <p:spPr>
            <a:xfrm>
              <a:off x="4325112" y="749808"/>
              <a:ext cx="457200" cy="457200"/>
            </a:xfrm>
            <a:prstGeom prst="ellipse">
              <a:avLst/>
            </a:prstGeom>
            <a:solidFill>
              <a:srgbClr val="02C39A"/>
            </a:solidFill>
            <a:ln/>
          </p:spPr>
        </p:sp>
        <p:sp>
          <p:nvSpPr>
            <p:cNvPr id="20" name="Text 18"/>
            <p:cNvSpPr/>
            <p:nvPr/>
          </p:nvSpPr>
          <p:spPr>
            <a:xfrm>
              <a:off x="4325112" y="7498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13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72684" y="786384"/>
              <a:ext cx="1508760" cy="1645920"/>
            </a:xfrm>
            <a:prstGeom prst="rect">
              <a:avLst/>
            </a:prstGeom>
            <a:solidFill>
              <a:srgbClr val="1A2E4A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6044184" y="749808"/>
              <a:ext cx="457200" cy="457200"/>
            </a:xfrm>
            <a:prstGeom prst="ellipse">
              <a:avLst/>
            </a:prstGeom>
            <a:solidFill>
              <a:srgbClr val="02C39A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044184" y="7498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13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242048" y="777240"/>
              <a:ext cx="1508760" cy="1645920"/>
            </a:xfrm>
            <a:prstGeom prst="rect">
              <a:avLst/>
            </a:prstGeom>
            <a:solidFill>
              <a:srgbClr val="1A2E4A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7763256" y="749808"/>
              <a:ext cx="457200" cy="457200"/>
            </a:xfrm>
            <a:prstGeom prst="ellipse">
              <a:avLst/>
            </a:prstGeom>
            <a:solidFill>
              <a:srgbClr val="02C39A"/>
            </a:solidFill>
            <a:ln/>
          </p:spPr>
        </p:sp>
        <p:sp>
          <p:nvSpPr>
            <p:cNvPr id="32" name="Text 30"/>
            <p:cNvSpPr/>
            <p:nvPr/>
          </p:nvSpPr>
          <p:spPr>
            <a:xfrm>
              <a:off x="7763256" y="7498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A2E4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5</a:t>
              </a:r>
              <a:endParaRPr lang="en-US" sz="13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45C6AA0-2F6A-FC55-BB32-4A35500F18B2}"/>
                </a:ext>
              </a:extLst>
            </p:cNvPr>
            <p:cNvGrpSpPr/>
            <p:nvPr/>
          </p:nvGrpSpPr>
          <p:grpSpPr>
            <a:xfrm>
              <a:off x="365760" y="960120"/>
              <a:ext cx="8385048" cy="1325880"/>
              <a:chOff x="365760" y="960120"/>
              <a:chExt cx="8385048" cy="1325880"/>
            </a:xfrm>
          </p:grpSpPr>
          <p:sp>
            <p:nvSpPr>
              <p:cNvPr id="9" name="Text 7"/>
              <p:cNvSpPr/>
              <p:nvPr/>
            </p:nvSpPr>
            <p:spPr>
              <a:xfrm>
                <a:off x="365760" y="960120"/>
                <a:ext cx="150876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📤</a:t>
                </a:r>
                <a:endParaRPr lang="en-US" sz="240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365760" y="1600200"/>
                <a:ext cx="1508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Upload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CSV</a:t>
                </a:r>
                <a:endParaRPr lang="en-US" sz="1200" dirty="0"/>
              </a:p>
            </p:txBody>
          </p:sp>
          <p:sp>
            <p:nvSpPr>
              <p:cNvPr id="11" name="Shape 9"/>
              <p:cNvSpPr/>
              <p:nvPr/>
            </p:nvSpPr>
            <p:spPr>
              <a:xfrm>
                <a:off x="1874520" y="1554480"/>
                <a:ext cx="182880" cy="91440"/>
              </a:xfrm>
              <a:prstGeom prst="rect">
                <a:avLst/>
              </a:prstGeom>
              <a:solidFill>
                <a:srgbClr val="02C39A"/>
              </a:solidFill>
              <a:ln/>
            </p:spPr>
          </p:sp>
          <p:sp>
            <p:nvSpPr>
              <p:cNvPr id="15" name="Text 13"/>
              <p:cNvSpPr/>
              <p:nvPr/>
            </p:nvSpPr>
            <p:spPr>
              <a:xfrm>
                <a:off x="2084832" y="960120"/>
                <a:ext cx="150876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🔧</a:t>
                </a:r>
                <a:endParaRPr lang="en-US" sz="240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2084832" y="1600200"/>
                <a:ext cx="1508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Preprocess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Data</a:t>
                </a:r>
                <a:endParaRPr lang="en-US" sz="1200" dirty="0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3593592" y="1554480"/>
                <a:ext cx="182880" cy="91440"/>
              </a:xfrm>
              <a:prstGeom prst="rect">
                <a:avLst/>
              </a:prstGeom>
              <a:solidFill>
                <a:srgbClr val="02C39A"/>
              </a:solidFill>
              <a:ln/>
            </p:spPr>
          </p:sp>
          <p:sp>
            <p:nvSpPr>
              <p:cNvPr id="21" name="Text 19"/>
              <p:cNvSpPr/>
              <p:nvPr/>
            </p:nvSpPr>
            <p:spPr>
              <a:xfrm>
                <a:off x="3803904" y="960120"/>
                <a:ext cx="150876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🤖</a:t>
                </a:r>
                <a:endParaRPr lang="en-US" sz="240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803904" y="1600200"/>
                <a:ext cx="1508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Run ML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Ensemble</a:t>
                </a:r>
                <a:endParaRPr lang="en-US" sz="1200" dirty="0"/>
              </a:p>
            </p:txBody>
          </p:sp>
          <p:sp>
            <p:nvSpPr>
              <p:cNvPr id="23" name="Shape 21"/>
              <p:cNvSpPr/>
              <p:nvPr/>
            </p:nvSpPr>
            <p:spPr>
              <a:xfrm>
                <a:off x="5312664" y="1554480"/>
                <a:ext cx="182880" cy="91440"/>
              </a:xfrm>
              <a:prstGeom prst="rect">
                <a:avLst/>
              </a:prstGeom>
              <a:solidFill>
                <a:srgbClr val="02C39A"/>
              </a:solidFill>
              <a:ln/>
            </p:spPr>
          </p:sp>
          <p:sp>
            <p:nvSpPr>
              <p:cNvPr id="27" name="Text 25"/>
              <p:cNvSpPr/>
              <p:nvPr/>
            </p:nvSpPr>
            <p:spPr>
              <a:xfrm>
                <a:off x="5522976" y="960120"/>
                <a:ext cx="150876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🗳️</a:t>
                </a:r>
                <a:endParaRPr lang="en-US" sz="240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5522976" y="1600200"/>
                <a:ext cx="1508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Consensus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Voting</a:t>
                </a:r>
                <a:endParaRPr lang="en-US" sz="1200" dirty="0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7031736" y="1554480"/>
                <a:ext cx="182880" cy="91440"/>
              </a:xfrm>
              <a:prstGeom prst="rect">
                <a:avLst/>
              </a:prstGeom>
              <a:solidFill>
                <a:srgbClr val="02C39A"/>
              </a:solidFill>
              <a:ln/>
            </p:spPr>
          </p:sp>
          <p:sp>
            <p:nvSpPr>
              <p:cNvPr id="33" name="Text 31"/>
              <p:cNvSpPr/>
              <p:nvPr/>
            </p:nvSpPr>
            <p:spPr>
              <a:xfrm>
                <a:off x="7242048" y="960120"/>
                <a:ext cx="1508760" cy="5943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💡</a:t>
                </a:r>
                <a:endParaRPr lang="en-US" sz="240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7242048" y="1600200"/>
                <a:ext cx="15087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SHAP &amp;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Report</a:t>
                </a:r>
                <a:endParaRPr lang="en-US" sz="1200" dirty="0"/>
              </a:p>
            </p:txBody>
          </p:sp>
        </p:grpSp>
      </p:grpSp>
      <p:sp>
        <p:nvSpPr>
          <p:cNvPr id="36" name="Text 34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Modules – Part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1737360" cy="12070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Entry 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969264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Streamlit application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module calls and page routing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session state across views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76272"/>
            <a:ext cx="1737360" cy="12070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340864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upload widget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raw and processed data tables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results and download buttons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47872"/>
            <a:ext cx="1737360" cy="120700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A5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3712464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with imputation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StandardScaler normalization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 and invalid rows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Modules – Part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1737360" cy="1207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14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detection.py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Detection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40280" y="969264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Isolation Forest, LOF, One-Class SVM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anomaly scores per model per record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contamination parameter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76272"/>
            <a:ext cx="1737360" cy="1207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Voting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340864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predictions from all 3 models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record as anomaly if ≥ 2 models agree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final anomaly label + confidence count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47872"/>
            <a:ext cx="1737360" cy="12070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57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explainer.py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40280" y="3712464"/>
            <a:ext cx="6400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SHAP values using TreeExplainer / KernelExplainer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force plots for flagged records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plots via matplotlib + st.image in Streamlit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77724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777240"/>
            <a:ext cx="278892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8046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664208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anomalies by randomly partitioning features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isolated in fewer splits than normal points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effective for high-dimensional numerical data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Unsupervised, no labeled data required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36976" y="77724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777240"/>
            <a:ext cx="2788920" cy="41148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36976" y="8046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Outlier Factor (LOF)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46704" y="1664208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local density of a point with its k-nearest neighbors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with significantly lower density = outliers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context-sensitive / local anomalies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when anomalies cluster differently from normals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777240"/>
            <a:ext cx="2788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81344" y="777240"/>
            <a:ext cx="2788920" cy="41148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8046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Boundary-Based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4496" y="12344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D6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One-Class SVM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1664208"/>
            <a:ext cx="25786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kernel-based boundary around normal data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outside boundary flagged as anomalies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distributions with RBF kernel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normal class is well-defined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 using SHAP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91440" cy="2331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686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SHAP?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52728"/>
            <a:ext cx="388620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</a:t>
            </a:r>
            <a:r>
              <a:rPr lang="en-US" sz="125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</a:t>
            </a: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cooperative game theory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feature a contribution value for a prediction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are consistent, locally accurate, and additive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ML model (model-agnostic)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218688"/>
            <a:ext cx="41605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218688"/>
            <a:ext cx="91440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7C8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used in this project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3886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plots show which features pushed toward anomaly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via matplotlib savefig + Streamlit st.image()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flagged record in explainer.py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023360" cy="1828800"/>
          </a:xfrm>
          <a:prstGeom prst="rect">
            <a:avLst/>
          </a:prstGeom>
          <a:solidFill>
            <a:srgbClr val="EAF2F8"/>
          </a:solidFill>
          <a:ln w="19050">
            <a:solidFill>
              <a:srgbClr val="1AA5B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SHAP Force Plot – Sample Output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761488"/>
            <a:ext cx="4023360" cy="1965960"/>
          </a:xfrm>
          <a:prstGeom prst="rect">
            <a:avLst/>
          </a:prstGeom>
          <a:solidFill>
            <a:srgbClr val="EAF2F8"/>
          </a:solidFill>
          <a:ln w="19050">
            <a:solidFill>
              <a:srgbClr val="1AA5B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754880" y="35615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SHAP Summary / Bar Chart ]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C05E56-0B07-0DD6-4B03-1E1D7097B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187" y="740663"/>
            <a:ext cx="4160519" cy="18911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FE19FC-1854-896D-DFB9-8AE9E68EF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187" y="2737642"/>
            <a:ext cx="4195935" cy="2055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and Output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41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87168" y="777240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841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&gt;85%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87168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08576" y="777240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841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9984" y="777240"/>
            <a:ext cx="1920240" cy="123444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9984" y="8412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29984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5E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4160520" cy="2560320"/>
          </a:xfrm>
          <a:prstGeom prst="rect">
            <a:avLst/>
          </a:prstGeom>
          <a:solidFill>
            <a:srgbClr val="EAF2F8"/>
          </a:solidFill>
          <a:ln w="19050">
            <a:solidFill>
              <a:srgbClr val="1AA5B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65760" y="3246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Application Screenshot – Dashboard 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023360" cy="2560320"/>
          </a:xfrm>
          <a:prstGeom prst="rect">
            <a:avLst/>
          </a:prstGeom>
          <a:solidFill>
            <a:srgbClr val="EAF2F8"/>
          </a:solidFill>
          <a:ln w="19050">
            <a:solidFill>
              <a:srgbClr val="1AA5B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5488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Application Screenshot – Results / SHAP View ]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7D2A00-B374-B4B0-4C2E-DAD85BF1D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99" y="2139696"/>
            <a:ext cx="4221101" cy="2597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4ACBDA1-0BB1-E9A4-176F-19EB8BDAB8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55" b="1129"/>
          <a:stretch>
            <a:fillRect/>
          </a:stretch>
        </p:blipFill>
        <p:spPr>
          <a:xfrm>
            <a:off x="4741148" y="2124872"/>
            <a:ext cx="4051954" cy="259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E7C86">
              <a:alpha val="1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3383280"/>
          </a:xfrm>
          <a:prstGeom prst="rect">
            <a:avLst/>
          </a:prstGeom>
          <a:solidFill>
            <a:srgbClr val="14243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411480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automated data quality pipeline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3 models improves detection reliability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voting reduces false positive rate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makes results transparent and trustworthy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makes it accessible to all users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987552"/>
            <a:ext cx="4114800" cy="3383280"/>
          </a:xfrm>
          <a:prstGeom prst="rect">
            <a:avLst/>
          </a:prstGeom>
          <a:solidFill>
            <a:srgbClr val="0A2233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87552"/>
            <a:ext cx="4114800" cy="457200"/>
          </a:xfrm>
          <a:prstGeom prst="rect">
            <a:avLst/>
          </a:prstGeom>
          <a:solidFill>
            <a:srgbClr val="1AA5B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36192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categorical and time-series data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deep learning models (Autoencoder, LSTM)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 with Apache Kafka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 visualizations in dashboard</a:t>
            </a: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 API for enterprise integration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|  Open for Questions &amp; Feedback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958</Words>
  <Application>Microsoft Office PowerPoint</Application>
  <PresentationFormat>On-screen Show (16:9)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AI-Based Data Quality Management System</dc:title>
  <dc:subject>PptxGenJS Presentation</dc:subject>
  <dc:creator>PptxGenJS</dc:creator>
  <cp:lastModifiedBy>priya dharshini</cp:lastModifiedBy>
  <cp:revision>3</cp:revision>
  <dcterms:created xsi:type="dcterms:W3CDTF">2026-03-13T13:03:19Z</dcterms:created>
  <dcterms:modified xsi:type="dcterms:W3CDTF">2026-03-14T02:54:02Z</dcterms:modified>
</cp:coreProperties>
</file>