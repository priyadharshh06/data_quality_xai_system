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5" r:id="rId10"/>
    <p:sldId id="265" r:id="rId11"/>
    <p:sldId id="266" r:id="rId12"/>
    <p:sldId id="267" r:id="rId13"/>
    <p:sldId id="268" r:id="rId14"/>
    <p:sldId id="269" r:id="rId15"/>
    <p:sldId id="278" r:id="rId16"/>
    <p:sldId id="279" r:id="rId17"/>
    <p:sldId id="280" r:id="rId18"/>
    <p:sldId id="281" r:id="rId19"/>
    <p:sldId id="270" r:id="rId20"/>
    <p:sldId id="271" r:id="rId21"/>
    <p:sldId id="272" r:id="rId22"/>
    <p:sldId id="276" r:id="rId23"/>
    <p:sldId id="273" r:id="rId24"/>
    <p:sldId id="274" r:id="rId25"/>
    <p:sldId id="277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99"/>
    <a:srgbClr val="8308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5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000000"/>
                </a:solidFill>
                <a:latin typeface="Arial"/>
              </a:rPr>
              <a:t>Model Performance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6C5B9E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Isolation Forest</c:v>
                </c:pt>
                <c:pt idx="1">
                  <c:v>LOF</c:v>
                </c:pt>
                <c:pt idx="2">
                  <c:v>One-Class SVM</c:v>
                </c:pt>
                <c:pt idx="3">
                  <c:v>Consensus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0.82</c:v>
                </c:pt>
                <c:pt idx="1">
                  <c:v>0.78</c:v>
                </c:pt>
                <c:pt idx="2">
                  <c:v>0.75</c:v>
                </c:pt>
                <c:pt idx="3">
                  <c:v>0.91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52-4B40-9EE1-3E6E02A851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9B89C4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Isolation Forest</c:v>
                </c:pt>
                <c:pt idx="1">
                  <c:v>LOF</c:v>
                </c:pt>
                <c:pt idx="2">
                  <c:v>One-Class SVM</c:v>
                </c:pt>
                <c:pt idx="3">
                  <c:v>Consensus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0.76</c:v>
                </c:pt>
                <c:pt idx="1">
                  <c:v>0.81</c:v>
                </c:pt>
                <c:pt idx="2">
                  <c:v>0.72</c:v>
                </c:pt>
                <c:pt idx="3">
                  <c:v>0.88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52-4B40-9EE1-3E6E02A851A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C8922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Isolation Forest</c:v>
                </c:pt>
                <c:pt idx="1">
                  <c:v>LOF</c:v>
                </c:pt>
                <c:pt idx="2">
                  <c:v>One-Class SVM</c:v>
                </c:pt>
                <c:pt idx="3">
                  <c:v>Consensus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0.79</c:v>
                </c:pt>
                <c:pt idx="1">
                  <c:v>0.79</c:v>
                </c:pt>
                <c:pt idx="2">
                  <c:v>0.73</c:v>
                </c:pt>
                <c:pt idx="3">
                  <c:v>0.89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E52-4B40-9EE1-3E6E02A851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8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D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8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0075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66779-544B-A51C-F184-B9C91C9A7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E35219-2971-F2B9-E2D5-87AB1245F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C87851-25ED-0B43-6F33-F262FE4046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94B814-1BEA-830D-85E8-4421F57F8C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705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5E6A7-43B7-44A3-C127-889668F74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D02A22-7C60-72CF-7610-E911FD915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82A543-044E-370D-114C-EF8100F6BF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746A0-9947-FD1E-5E45-2C598C3D1A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704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483C3-DA69-E52C-778C-356D18F46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90B297-1FB8-B4DB-85F0-8B754B9DC9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5ABDED-86E6-3354-2A4E-BF34673EE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5D00C-2D8B-E808-91AA-C8C9CA9B1C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6215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1CF8D-7280-730A-8D47-135DD6767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48D27-877E-D0F2-B35A-547A8C9E93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A4D294-2C67-962E-D1DB-11FF5FC8B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01F8DE-6B0B-8876-4E42-CB2D45E020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2765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743C6-FA49-F148-283D-5FC93106A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CB7A66-C794-B542-EE33-FECC23B605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447755-5988-E51B-997A-10180CB36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485EA1-AD45-9D46-DC3A-51D7FA04E2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9459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487D9-56F9-B9EB-7C11-CFD360D11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C780F-9292-0884-47F0-4CA2B81A7C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7B0184-3D68-D6F1-C033-22E965565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2E30A-BCE7-B2A4-1368-A969D96A7A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8681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0D88B-4F64-BBF4-552E-B65E583CA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329CB3-4702-B551-44A6-57B205761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20604B-0B8A-A758-F149-D5D727A160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E73F7-7074-7103-E32E-71E3F1E420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0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chemeClr val="accent3"/>
          </a:solidFill>
          <a:ln w="12700">
            <a:noFill/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3454" y="3810"/>
            <a:ext cx="8942832" cy="5143500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3754120"/>
            <a:ext cx="9062466" cy="45720"/>
          </a:xfrm>
          <a:prstGeom prst="rect">
            <a:avLst/>
          </a:prstGeom>
          <a:solidFill>
            <a:schemeClr val="accent3"/>
          </a:solidFill>
          <a:ln w="12700">
            <a:noFill/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321040" cy="1691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Explainable AI-Based Automated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Quality Management System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2232660"/>
            <a:ext cx="832104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Noise Detection in Numerical Data Pipelines</a:t>
            </a:r>
          </a:p>
        </p:txBody>
      </p:sp>
      <p:sp>
        <p:nvSpPr>
          <p:cNvPr id="7" name="Text 5"/>
          <p:cNvSpPr/>
          <p:nvPr/>
        </p:nvSpPr>
        <p:spPr>
          <a:xfrm>
            <a:off x="321944" y="3923030"/>
            <a:ext cx="9062465" cy="11188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by: Priya Dharshini V | II M. Sc Information Technology</a:t>
            </a:r>
          </a:p>
          <a:p>
            <a:pPr marL="0" indent="0" algn="just">
              <a:buNone/>
            </a:pPr>
            <a:endParaRPr lang="en-US" sz="800" dirty="0">
              <a:solidFill>
                <a:schemeClr val="bg1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0" indent="0" algn="just">
              <a:buNone/>
            </a:pPr>
            <a:endParaRPr lang="en-US" sz="700" dirty="0">
              <a:solidFill>
                <a:schemeClr val="bg1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chemeClr val="bg1"/>
                </a:solidFill>
                <a:latin typeface="Times New Roman" pitchFamily="34" charset="0"/>
                <a:cs typeface="Times New Roman" pitchFamily="34" charset="-120"/>
              </a:rPr>
              <a:t>Guide: Dr A. Akila M.C.A, M.Phil., Ph.D., | Associate Professor, 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bg1"/>
                </a:solidFill>
                <a:latin typeface="Times New Roman" pitchFamily="34" charset="0"/>
                <a:cs typeface="Times New Roman" pitchFamily="34" charset="-120"/>
              </a:rPr>
              <a:t>            Department of Computer Science &amp; Information Technology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06780"/>
            <a:ext cx="8503920" cy="3977640"/>
          </a:xfrm>
          <a:prstGeom prst="rect">
            <a:avLst/>
          </a:prstGeom>
          <a:solidFill>
            <a:srgbClr val="FFFFFF"/>
          </a:solidFill>
          <a:ln w="10160">
            <a:solidFill>
              <a:srgbClr val="C0C0D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14400"/>
            <a:ext cx="73152" cy="3977640"/>
          </a:xfrm>
          <a:prstGeom prst="rect">
            <a:avLst/>
          </a:prstGeom>
          <a:solidFill>
            <a:srgbClr val="A084CA"/>
          </a:solidFill>
          <a:ln w="12700">
            <a:solidFill>
              <a:srgbClr val="A084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55980"/>
            <a:ext cx="8229600" cy="41732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pipelines handling numerical data are vulnerable to hidden noise, outliers, and anomalies that degrade downstream analytics and model performance.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project proposes an automated, modular Python-based system that detects noise using an ensemble of Isolation Forest, Local Outlier Factor (LOF), and One-Class SVM with consensus voting.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SHAP (SHapley Additive exPlanations) is integrated to provide feature-level interpretability, enabling users to understand why a data point was flagged as anomalous.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Streamlit-based interactive dashboard allows CSV upload, anomaly visualisation, model comparison, and report download, making the system accessible to non-technical users.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8503920" cy="3977640"/>
          </a:xfrm>
          <a:prstGeom prst="rect">
            <a:avLst/>
          </a:prstGeom>
          <a:solidFill>
            <a:srgbClr val="FFFFFF"/>
          </a:solidFill>
          <a:ln w="10160">
            <a:solidFill>
              <a:srgbClr val="C0C0D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22020"/>
            <a:ext cx="73152" cy="3977640"/>
          </a:xfrm>
          <a:prstGeom prst="rect">
            <a:avLst/>
          </a:prstGeom>
          <a:solidFill>
            <a:srgbClr val="A084CA"/>
          </a:solidFill>
          <a:ln w="12700">
            <a:solidFill>
              <a:srgbClr val="A084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300480"/>
            <a:ext cx="8229600" cy="3246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Numerical data pipelines frequently contain noise, missing values, and statistical outliers that silently corrupt analysis.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anomaly detection </a:t>
            </a:r>
            <a:r>
              <a:rPr lang="en-US" sz="2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methods operate as </a:t>
            </a:r>
            <a:r>
              <a:rPr lang="en-US" sz="2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black boxes</a:t>
            </a:r>
            <a:r>
              <a:rPr lang="en-US" sz="2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they flag anomalies but provide no explanation of which features caused the detection or why.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existing systems require manual threshold specification and domain expertise.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is a need for an end-to-end, automated, and interpretable data quality management system specifically designed for numerical data pipelines.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 vs. Proposed System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853944"/>
              </p:ext>
            </p:extLst>
          </p:nvPr>
        </p:nvGraphicFramePr>
        <p:xfrm>
          <a:off x="274320" y="840232"/>
          <a:ext cx="8595360" cy="4059936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Aspect</a:t>
                      </a:r>
                      <a:endParaRPr lang="en-US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B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Existing Systems</a:t>
                      </a:r>
                      <a:endParaRPr lang="en-US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B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Proposed System</a:t>
                      </a:r>
                      <a:endParaRPr lang="en-US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B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Automation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Requires manual configuration per dataset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Fully automated modular pipeline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Explainability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interpretability  (black-box output)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SHAP-based feature-level explanations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Detection Approach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Single model, prone to high false positives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Ensemble (IF + LOF + SVM) with consensus voting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User Interface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interface provided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Streamlit dashboard with upload &amp; download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Scalability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Tightly coupled, hard to extend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Modular Python files, easily extensible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Contamination Threshold</a:t>
                      </a:r>
                    </a:p>
                  </a:txBody>
                  <a:tcPr anchor="ctr">
                    <a:lnL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Manual</a:t>
                      </a:r>
                    </a:p>
                  </a:txBody>
                  <a:tcPr anchor="ctr">
                    <a:lnL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Automated IQR-based estimation</a:t>
                      </a:r>
                    </a:p>
                  </a:txBody>
                  <a:tcPr anchor="ctr">
                    <a:lnL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4514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</a:t>
            </a: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987032"/>
              </p:ext>
            </p:extLst>
          </p:nvPr>
        </p:nvGraphicFramePr>
        <p:xfrm>
          <a:off x="228600" y="1005840"/>
          <a:ext cx="8686800" cy="374904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Author &amp; Year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B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Key Contribution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B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Research Gap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B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Lundberg &amp; Lee (2017)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B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SHAP framework for unified feature attribution in ML models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B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 evaluated on unsupervised anomaly detection pipelines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Zhang et al. (2022)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2D2B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Ensemble anomaly detection combining IF and LOF for IoT sensor data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B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Lacks explainability layer; no user-facing interface provided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Chandola et al. (2021)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B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Comprehensive survey of anomaly detection techniques for numerical data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B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Does not address automated pipeline integration or XAI methods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Liu et al. (2012)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B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Isolation Forest for high-dimensional outlier detection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B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consensus voting; single-model bias leads to false positives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Breunig et al. (2000)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B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Local Outlier Factor (LOF) for density-based local anomaly scoring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B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Sensitive to parameter choice; no ensemble or interpretability support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Scholkopf et al. (1999)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B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One-Class SVM for novelty detection in unlabelled datasets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B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Computationally heavy; not suitable as standalone pipeline solution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99160"/>
            <a:ext cx="8503920" cy="3977640"/>
          </a:xfrm>
          <a:prstGeom prst="rect">
            <a:avLst/>
          </a:prstGeom>
          <a:solidFill>
            <a:srgbClr val="FFFFFF"/>
          </a:solidFill>
          <a:ln w="10160">
            <a:solidFill>
              <a:srgbClr val="C0C0D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Shape 6"/>
          <p:cNvSpPr/>
          <p:nvPr/>
        </p:nvSpPr>
        <p:spPr>
          <a:xfrm>
            <a:off x="320040" y="899160"/>
            <a:ext cx="73152" cy="3977640"/>
          </a:xfrm>
          <a:prstGeom prst="rect">
            <a:avLst/>
          </a:prstGeom>
          <a:solidFill>
            <a:srgbClr val="A084CA"/>
          </a:solidFill>
          <a:ln w="12700">
            <a:solidFill>
              <a:srgbClr val="A084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43000"/>
            <a:ext cx="8229600" cy="3474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D2B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a fully automated, modular Python pipeline for end-to-end noise detection in numerical CSV datasets without manual intervention.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D2B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 an ensemble anomaly detection mechanism using Isolation Forest, Local Outlier Factor, and One-Class SVM with a 2-out-of-3 consensus voting strategy.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D2B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Integrate SHAP explainability to generate feature-level interpretations (summary, dot, and waterfall plots) for every detected anomaly.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D2B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 a </a:t>
            </a:r>
            <a:r>
              <a:rPr lang="en-US" sz="1700" dirty="0" err="1">
                <a:solidFill>
                  <a:srgbClr val="2D2B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Streamlit</a:t>
            </a:r>
            <a:r>
              <a:rPr lang="en-US" sz="1700" dirty="0">
                <a:solidFill>
                  <a:srgbClr val="2D2B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-based interactive dashboard enabling non-technical users to upload data, </a:t>
            </a:r>
            <a:r>
              <a:rPr lang="en-US" sz="1700" dirty="0" err="1">
                <a:solidFill>
                  <a:srgbClr val="2D2B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visualise</a:t>
            </a:r>
            <a:r>
              <a:rPr lang="en-US" sz="1700" dirty="0">
                <a:solidFill>
                  <a:srgbClr val="2D2B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anomalies, compute data quality score, compare model outputs, and download results.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D2B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 detection quality using precision, recall, and F1-score with consensus output as the reference baseline in an unsupervised setting.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49452"/>
            <a:ext cx="475488" cy="612648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49452"/>
            <a:ext cx="47548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949452"/>
            <a:ext cx="809244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C0C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986028"/>
            <a:ext cx="21945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C5B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Ingestion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0400" y="1059180"/>
            <a:ext cx="0" cy="393192"/>
          </a:xfrm>
          <a:prstGeom prst="line">
            <a:avLst/>
          </a:prstGeom>
          <a:noFill/>
          <a:ln w="10160">
            <a:solidFill>
              <a:srgbClr val="C0C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8979" y="973074"/>
            <a:ext cx="54406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Load numerical CSV; validate schema; write raw data to SQLite via data_ingestion.py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7492" y="1562100"/>
            <a:ext cx="0" cy="45720"/>
          </a:xfrm>
          <a:prstGeom prst="line">
            <a:avLst/>
          </a:prstGeom>
          <a:noFill/>
          <a:ln w="19050">
            <a:solidFill>
              <a:srgbClr val="C892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620520"/>
            <a:ext cx="475488" cy="612648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607820"/>
            <a:ext cx="47548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7240" y="1622552"/>
            <a:ext cx="8092440" cy="612648"/>
          </a:xfrm>
          <a:prstGeom prst="rect">
            <a:avLst/>
          </a:prstGeom>
          <a:solidFill>
            <a:srgbClr val="F0EDF9"/>
          </a:solidFill>
          <a:ln w="8890">
            <a:solidFill>
              <a:srgbClr val="C0C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1644396"/>
            <a:ext cx="21945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C5B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00400" y="1717548"/>
            <a:ext cx="0" cy="393192"/>
          </a:xfrm>
          <a:prstGeom prst="line">
            <a:avLst/>
          </a:prstGeom>
          <a:noFill/>
          <a:ln w="10160">
            <a:solidFill>
              <a:srgbClr val="C0C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644396"/>
            <a:ext cx="54406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Impute missing values, scale features, enforce column types via preprocessor.py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7492" y="2220468"/>
            <a:ext cx="0" cy="45720"/>
          </a:xfrm>
          <a:prstGeom prst="line">
            <a:avLst/>
          </a:prstGeom>
          <a:noFill/>
          <a:ln w="19050">
            <a:solidFill>
              <a:srgbClr val="C892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266188"/>
            <a:ext cx="475488" cy="612648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266188"/>
            <a:ext cx="47548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77240" y="2266188"/>
            <a:ext cx="809244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C0C0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2302764"/>
            <a:ext cx="21945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C5B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Ensemble Detection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00400" y="2375916"/>
            <a:ext cx="0" cy="393192"/>
          </a:xfrm>
          <a:prstGeom prst="line">
            <a:avLst/>
          </a:prstGeom>
          <a:noFill/>
          <a:ln w="10160">
            <a:solidFill>
              <a:srgbClr val="C0C0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2302764"/>
            <a:ext cx="54406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Isolation Forest, LOF, One-Class SVM independently; flag anomalies per model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07492" y="2878836"/>
            <a:ext cx="0" cy="45720"/>
          </a:xfrm>
          <a:prstGeom prst="line">
            <a:avLst/>
          </a:prstGeom>
          <a:noFill/>
          <a:ln w="19050">
            <a:solidFill>
              <a:srgbClr val="C892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924556"/>
            <a:ext cx="475488" cy="612648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924556"/>
            <a:ext cx="47548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77240" y="2924556"/>
            <a:ext cx="8092440" cy="612648"/>
          </a:xfrm>
          <a:prstGeom prst="rect">
            <a:avLst/>
          </a:prstGeom>
          <a:solidFill>
            <a:srgbClr val="F0EDF9"/>
          </a:solidFill>
          <a:ln w="8890">
            <a:solidFill>
              <a:srgbClr val="C0C0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2961132"/>
            <a:ext cx="21945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C5B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Consensus Voting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200400" y="3034284"/>
            <a:ext cx="0" cy="393192"/>
          </a:xfrm>
          <a:prstGeom prst="line">
            <a:avLst/>
          </a:prstGeom>
          <a:noFill/>
          <a:ln w="10160">
            <a:solidFill>
              <a:srgbClr val="C0C0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2961132"/>
            <a:ext cx="54406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Label a point anomalous only if at least 2 of 3 models agree, reduces false positives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07492" y="3537204"/>
            <a:ext cx="0" cy="45720"/>
          </a:xfrm>
          <a:prstGeom prst="line">
            <a:avLst/>
          </a:prstGeom>
          <a:noFill/>
          <a:ln w="19050">
            <a:solidFill>
              <a:srgbClr val="C892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3582924"/>
            <a:ext cx="475488" cy="612648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582924"/>
            <a:ext cx="47548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77240" y="3582924"/>
            <a:ext cx="809244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C0C0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0120" y="3619500"/>
            <a:ext cx="21945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C5B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SHAP Explainability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200400" y="3692652"/>
            <a:ext cx="0" cy="393192"/>
          </a:xfrm>
          <a:prstGeom prst="line">
            <a:avLst/>
          </a:prstGeom>
          <a:noFill/>
          <a:ln w="10160">
            <a:solidFill>
              <a:srgbClr val="C0C0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37560" y="3619500"/>
            <a:ext cx="54406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 SHAP values; generate summary, dot, and waterfall visualisations via explainer.py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07492" y="4195572"/>
            <a:ext cx="0" cy="45720"/>
          </a:xfrm>
          <a:prstGeom prst="line">
            <a:avLst/>
          </a:prstGeom>
          <a:noFill/>
          <a:ln w="19050">
            <a:solidFill>
              <a:srgbClr val="C892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4241292"/>
            <a:ext cx="475488" cy="612648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241292"/>
            <a:ext cx="47548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77240" y="4241292"/>
            <a:ext cx="8092440" cy="612648"/>
          </a:xfrm>
          <a:prstGeom prst="rect">
            <a:avLst/>
          </a:prstGeom>
          <a:solidFill>
            <a:srgbClr val="F0EDF9"/>
          </a:solidFill>
          <a:ln w="8890">
            <a:solidFill>
              <a:srgbClr val="C0C0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0120" y="4277868"/>
            <a:ext cx="21945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C5B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&amp; Report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200400" y="4351020"/>
            <a:ext cx="0" cy="393192"/>
          </a:xfrm>
          <a:prstGeom prst="line">
            <a:avLst/>
          </a:prstGeom>
          <a:noFill/>
          <a:ln w="10160">
            <a:solidFill>
              <a:srgbClr val="C0C0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4277868"/>
            <a:ext cx="54406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Streamlit app.py: upload, process, visualise, compare models, and download flagged CSV results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1430"/>
            <a:ext cx="9144000" cy="640080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</a:t>
            </a: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</a:t>
            </a: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8FB353-1119-AE37-A4B9-02106A5791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937" r="6766" b="10068"/>
          <a:stretch>
            <a:fillRect/>
          </a:stretch>
        </p:blipFill>
        <p:spPr bwMode="auto">
          <a:xfrm>
            <a:off x="1980807" y="819694"/>
            <a:ext cx="5218961" cy="406091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2F36ED-0D68-60A5-3F95-42A0AA959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CE8FE55-EB43-22F8-DBEB-4BAADFC6EA76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DF16D3D-30A4-A05B-70B0-6B13952A1FBE}"/>
              </a:ext>
            </a:extLst>
          </p:cNvPr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</a:t>
            </a: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- Data Layer Modules (1/3)</a:t>
            </a:r>
            <a:endParaRPr lang="en-US" sz="2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77DAA7B-CA1C-3839-D560-9F3043BFC3C3}"/>
              </a:ext>
            </a:extLst>
          </p:cNvPr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568C03D-5DFE-9C2E-6160-E9CD24649F4B}"/>
              </a:ext>
            </a:extLst>
          </p:cNvPr>
          <p:cNvSpPr/>
          <p:nvPr/>
        </p:nvSpPr>
        <p:spPr>
          <a:xfrm>
            <a:off x="274320" y="768096"/>
            <a:ext cx="8595360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C0C0D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9E9EF5D-E441-F03A-8CA1-1817E55BA910}"/>
              </a:ext>
            </a:extLst>
          </p:cNvPr>
          <p:cNvSpPr/>
          <p:nvPr/>
        </p:nvSpPr>
        <p:spPr>
          <a:xfrm>
            <a:off x="274320" y="768096"/>
            <a:ext cx="8595360" cy="320040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4FE9021-6851-DAAF-F8E4-24D9A4ED5AA4}"/>
              </a:ext>
            </a:extLst>
          </p:cNvPr>
          <p:cNvSpPr/>
          <p:nvPr/>
        </p:nvSpPr>
        <p:spPr>
          <a:xfrm>
            <a:off x="411480" y="768096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Ingestion 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914C44A-888C-0FCB-9904-9ED8B518B83B}"/>
              </a:ext>
            </a:extLst>
          </p:cNvPr>
          <p:cNvSpPr/>
          <p:nvPr/>
        </p:nvSpPr>
        <p:spPr>
          <a:xfrm>
            <a:off x="457200" y="1133856"/>
            <a:ext cx="83210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Accepts any numerical CSV file uploaded through the Streamlit interface. 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Validates column data types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Writes validated raw data to a dedicated SQLite table for persistent storage.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9CD381E-938D-F285-457F-DF21B17FF5AF}"/>
              </a:ext>
            </a:extLst>
          </p:cNvPr>
          <p:cNvSpPr/>
          <p:nvPr/>
        </p:nvSpPr>
        <p:spPr>
          <a:xfrm>
            <a:off x="274320" y="2202180"/>
            <a:ext cx="8595360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C0C0D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802359C-4385-1625-BA16-E589975D331B}"/>
              </a:ext>
            </a:extLst>
          </p:cNvPr>
          <p:cNvSpPr/>
          <p:nvPr/>
        </p:nvSpPr>
        <p:spPr>
          <a:xfrm>
            <a:off x="274320" y="2217420"/>
            <a:ext cx="8595360" cy="320040"/>
          </a:xfrm>
          <a:prstGeom prst="rect">
            <a:avLst/>
          </a:prstGeom>
          <a:solidFill>
            <a:srgbClr val="A084CA"/>
          </a:solidFill>
          <a:ln w="12700">
            <a:solidFill>
              <a:srgbClr val="A084CA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38FB5CD-BE7D-BB93-169A-2F875CAF0CB4}"/>
              </a:ext>
            </a:extLst>
          </p:cNvPr>
          <p:cNvSpPr/>
          <p:nvPr/>
        </p:nvSpPr>
        <p:spPr>
          <a:xfrm>
            <a:off x="411480" y="220218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Storage</a:t>
            </a: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1C765AB-129F-E88C-1300-840BE1654E25}"/>
              </a:ext>
            </a:extLst>
          </p:cNvPr>
          <p:cNvSpPr/>
          <p:nvPr/>
        </p:nvSpPr>
        <p:spPr>
          <a:xfrm>
            <a:off x="457200" y="2593340"/>
            <a:ext cx="83210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Manages the SQLite database schema for the entire pipeline.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Maintains two core tables: raw_data (original CSV records) and processed_data (after preprocessing).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Provides read/write utility functions used by ingestion, preprocessing, and detection modules.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C5E61E3-EAF0-0DE6-5981-693E87C01F2B}"/>
              </a:ext>
            </a:extLst>
          </p:cNvPr>
          <p:cNvSpPr/>
          <p:nvPr/>
        </p:nvSpPr>
        <p:spPr>
          <a:xfrm>
            <a:off x="274320" y="3605784"/>
            <a:ext cx="8595360" cy="1399032"/>
          </a:xfrm>
          <a:prstGeom prst="rect">
            <a:avLst/>
          </a:prstGeom>
          <a:solidFill>
            <a:srgbClr val="FFFFFF"/>
          </a:solidFill>
          <a:ln w="10160">
            <a:solidFill>
              <a:srgbClr val="C0C0D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6C0F56D-723A-1411-960E-16B3DFA92D4A}"/>
              </a:ext>
            </a:extLst>
          </p:cNvPr>
          <p:cNvSpPr/>
          <p:nvPr/>
        </p:nvSpPr>
        <p:spPr>
          <a:xfrm>
            <a:off x="274320" y="3621024"/>
            <a:ext cx="8595360" cy="320040"/>
          </a:xfrm>
          <a:prstGeom prst="rect">
            <a:avLst/>
          </a:prstGeom>
          <a:solidFill>
            <a:srgbClr val="9B89C4"/>
          </a:solidFill>
          <a:ln w="12700">
            <a:solidFill>
              <a:srgbClr val="9B89C4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074D6E2-56AD-E046-196C-A1A3853354FF}"/>
              </a:ext>
            </a:extLst>
          </p:cNvPr>
          <p:cNvSpPr/>
          <p:nvPr/>
        </p:nvSpPr>
        <p:spPr>
          <a:xfrm>
            <a:off x="411480" y="361340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cs typeface="Times New Roman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19B8229-298B-14EE-F171-3B36B921010C}"/>
              </a:ext>
            </a:extLst>
          </p:cNvPr>
          <p:cNvSpPr/>
          <p:nvPr/>
        </p:nvSpPr>
        <p:spPr>
          <a:xfrm>
            <a:off x="457200" y="4037584"/>
            <a:ext cx="83210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Reads raw data from SQLite and applies median imputation for all missing (NaN) values.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Standard Scaler to </a:t>
            </a:r>
            <a:r>
              <a:rPr 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normalise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all numerical features to zero mean and unit variance.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Writes the cleaned and scaled dataset back to the processed_data table in SQLite.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206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 - Detection &amp; Comparison Modules (2/3)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827532"/>
            <a:ext cx="8595360" cy="1965960"/>
          </a:xfrm>
          <a:prstGeom prst="rect">
            <a:avLst/>
          </a:prstGeom>
          <a:solidFill>
            <a:srgbClr val="FFFFFF"/>
          </a:solidFill>
          <a:ln w="10160">
            <a:solidFill>
              <a:srgbClr val="C0C0D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8595360" cy="329184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04672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Ensemble Detection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328420"/>
            <a:ext cx="8321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Loads the preprocessed dataset from SQLite and independently runs all three ML models.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Isolation Forest: tree-based, isolates anomalies by random feature partitioning, shorter path = higher anomaly score.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Local Outlier Factor (LOF): density-based, compares the local density of a point to k-nearest </a:t>
            </a:r>
            <a:r>
              <a:rPr 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neighbours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One-Class SVM: learns a boundary around normal data; points outside the boundary are labelled anomalous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92608" y="2994660"/>
            <a:ext cx="8595360" cy="1965960"/>
          </a:xfrm>
          <a:prstGeom prst="rect">
            <a:avLst/>
          </a:prstGeom>
          <a:solidFill>
            <a:srgbClr val="FFFFFF"/>
          </a:solidFill>
          <a:ln w="10160">
            <a:solidFill>
              <a:srgbClr val="C0C0D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2608" y="3009900"/>
            <a:ext cx="8595360" cy="329184"/>
          </a:xfrm>
          <a:prstGeom prst="rect">
            <a:avLst/>
          </a:prstGeom>
          <a:solidFill>
            <a:srgbClr val="A084CA"/>
          </a:solidFill>
          <a:ln w="12700">
            <a:solidFill>
              <a:srgbClr val="A084C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411480" y="2999232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Consensus Voting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3596640"/>
            <a:ext cx="832104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Aggregates the three binary label columns produced by the detection module into a single results table.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Applies the 2-out-of-3 consensus voting rule: a point is anomalous only if at least 2 models agree.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Computes precision, recall, and F1-score for each model against the consensus baseline.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Generates a side-by-side model comparison summary table used by the Streamlit dashboard for display.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 - Explainability &amp; Dashboard Modules (3/3)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8595360" cy="2106168"/>
          </a:xfrm>
          <a:prstGeom prst="rect">
            <a:avLst/>
          </a:prstGeom>
          <a:solidFill>
            <a:srgbClr val="FFFFFF"/>
          </a:solidFill>
          <a:ln w="10160">
            <a:solidFill>
              <a:srgbClr val="C0C0D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8595360" cy="329184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04672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cs typeface="Times New Roman" pitchFamily="34" charset="-120"/>
              </a:rPr>
              <a:t>SHAP Explainability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252220"/>
            <a:ext cx="832104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Uses SHAP's TreeExplainer for Isolation Forest and KernelExplainer for LOF and One-Class SVM.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Computes SHAP values for every flagged anomaly, quantifying each feature's positive or negative contribution to the anomaly score.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Summary Plot: ranks all features by mean absolute SHAP. 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Dot Plot: shows individual-level SHAP values per feature.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Waterfall Plot: provides a local explanation for a single data point.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66700" y="3134868"/>
            <a:ext cx="8595360" cy="1810512"/>
          </a:xfrm>
          <a:prstGeom prst="rect">
            <a:avLst/>
          </a:prstGeom>
          <a:solidFill>
            <a:srgbClr val="FFFFFF"/>
          </a:solidFill>
          <a:ln w="10160">
            <a:solidFill>
              <a:srgbClr val="C0C0D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3144774"/>
            <a:ext cx="8595360" cy="329184"/>
          </a:xfrm>
          <a:prstGeom prst="rect">
            <a:avLst/>
          </a:prstGeom>
          <a:solidFill>
            <a:srgbClr val="A084CA"/>
          </a:solidFill>
          <a:ln w="12700">
            <a:solidFill>
              <a:srgbClr val="A084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140964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Streamlit</a:t>
            </a: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Dashboard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9580" y="3525012"/>
            <a:ext cx="8321040" cy="15400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Serves as the user-facing entry point; the user uploads a CSV file directly through the browser interface.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Automatically triggers the full pipeline on upload.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Displays anomaly count, model-wise results table, data quality score, bar chart of metrics, and all three SHAP plots.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Allows users to download the flagged anomaly records along with their consensus label as a CSV report.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Machine Learning Models Used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972312"/>
            <a:ext cx="2651760" cy="420624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64692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Isolation Forest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3860" y="1545336"/>
            <a:ext cx="2651760" cy="3191256"/>
          </a:xfrm>
          <a:prstGeom prst="rect">
            <a:avLst/>
          </a:prstGeom>
          <a:solidFill>
            <a:srgbClr val="FFFFFF"/>
          </a:solidFill>
          <a:ln w="10160">
            <a:solidFill>
              <a:srgbClr val="C0C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" y="1545336"/>
            <a:ext cx="2432304" cy="3191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Tree-based algorithm that isolates anomalies by randomly partitioning feature space.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Anomalies require fewer splits to isolate, shorter average path length = higher anomaly score.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Effective for high-dimensional numerical data with low memory and computational overhead.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46120" y="964692"/>
            <a:ext cx="2651760" cy="420624"/>
          </a:xfrm>
          <a:prstGeom prst="rect">
            <a:avLst/>
          </a:prstGeom>
          <a:solidFill>
            <a:srgbClr val="A084CA"/>
          </a:solidFill>
          <a:ln w="12700">
            <a:solidFill>
              <a:srgbClr val="A084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972312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Local Outlier Factor (LOF)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46120" y="1554480"/>
            <a:ext cx="2651760" cy="3191256"/>
          </a:xfrm>
          <a:prstGeom prst="rect">
            <a:avLst/>
          </a:prstGeom>
          <a:solidFill>
            <a:srgbClr val="FFFFFF"/>
          </a:solidFill>
          <a:ln w="10160">
            <a:solidFill>
              <a:srgbClr val="C0C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74136" y="1650492"/>
            <a:ext cx="2432304" cy="2990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Density-based method that compares the local density of a point to its k-nearest neighbours.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Points in low-density regions relative to their neighbours receive a high LOF score.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Captures local contextual anomalies that global methods such as Isolation Forest may miss.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80760" y="995172"/>
            <a:ext cx="2651760" cy="420624"/>
          </a:xfrm>
          <a:prstGeom prst="rect">
            <a:avLst/>
          </a:prstGeom>
          <a:solidFill>
            <a:srgbClr val="9B89C4"/>
          </a:solidFill>
          <a:ln w="12700">
            <a:solidFill>
              <a:srgbClr val="9B89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987552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One-Class SVM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80760" y="1545336"/>
            <a:ext cx="2651760" cy="3191256"/>
          </a:xfrm>
          <a:prstGeom prst="rect">
            <a:avLst/>
          </a:prstGeom>
          <a:solidFill>
            <a:srgbClr val="FFFFFF"/>
          </a:solidFill>
          <a:ln w="10160">
            <a:solidFill>
              <a:srgbClr val="C0C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1580388"/>
            <a:ext cx="2432304" cy="2990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Trained exclusively on normal data; learns a decision boundary enclosing the majority class.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Points falling outside the learned boundary are classified as anomalies (novelties).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Robust to class imbalance,  ideal for unlabelled datasets where anomalies are rare.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Consensus Voting Mechanism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8503920" cy="1938528"/>
          </a:xfrm>
          <a:prstGeom prst="rect">
            <a:avLst/>
          </a:prstGeom>
          <a:solidFill>
            <a:srgbClr val="FFFFFF"/>
          </a:solidFill>
          <a:ln w="10160">
            <a:solidFill>
              <a:srgbClr val="C0C0D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04672"/>
            <a:ext cx="73152" cy="1938528"/>
          </a:xfrm>
          <a:prstGeom prst="rect">
            <a:avLst/>
          </a:prstGeom>
          <a:solidFill>
            <a:srgbClr val="A084CA"/>
          </a:solidFill>
          <a:ln w="12700">
            <a:solidFill>
              <a:srgbClr val="A084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53440"/>
            <a:ext cx="8229600" cy="1581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of the three models independently labels every data point as normal (0) or anomalous (1).</a:t>
            </a:r>
            <a:endParaRPr lang="en-US" sz="14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data point is confirmed anomalous only if at least 2 out of 3 models agree, this is the consensus voting rule.</a:t>
            </a:r>
            <a:endParaRPr lang="en-US" sz="14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Consensus voting reduces false positives caused by model-specific bias and improves overall detection reliability.</a:t>
            </a:r>
            <a:endParaRPr lang="en-US" sz="14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consensus output serves as the reference baseline for computing precision, recall, and F1-score.</a:t>
            </a:r>
            <a:endParaRPr lang="en-US" sz="14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258294"/>
              </p:ext>
            </p:extLst>
          </p:nvPr>
        </p:nvGraphicFramePr>
        <p:xfrm>
          <a:off x="320040" y="2907792"/>
          <a:ext cx="8503919" cy="2036063"/>
        </p:xfrm>
        <a:graphic>
          <a:graphicData uri="http://schemas.openxmlformats.org/drawingml/2006/table">
            <a:tbl>
              <a:tblPr/>
              <a:tblGrid>
                <a:gridCol w="14495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10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25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 Point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B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Isolation Forest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B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LOF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B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One-Class SVM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B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Consensus Label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B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8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2B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Point A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B30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Anomaly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7D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Normal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B30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Anomaly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B30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ANOMALY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8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2B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Point B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7D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Normal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7D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Normal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B30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Anomaly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A7D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NORMAL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8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2B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Point C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B30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Anomaly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B30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Anomaly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B30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Anomaly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B30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ANOMALY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SHAP-Based Explainability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06780"/>
            <a:ext cx="8503920" cy="3977640"/>
          </a:xfrm>
          <a:prstGeom prst="rect">
            <a:avLst/>
          </a:prstGeom>
          <a:solidFill>
            <a:srgbClr val="FFFFFF"/>
          </a:solidFill>
          <a:ln w="10160">
            <a:solidFill>
              <a:srgbClr val="C0C0D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06780"/>
            <a:ext cx="73152" cy="3977640"/>
          </a:xfrm>
          <a:prstGeom prst="rect">
            <a:avLst/>
          </a:prstGeom>
          <a:solidFill>
            <a:srgbClr val="A084CA"/>
          </a:solidFill>
          <a:ln w="12700">
            <a:solidFill>
              <a:srgbClr val="A084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64920"/>
            <a:ext cx="8229600" cy="3459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SHAP (SHapley Additive exPlanations) assigns each feature a contribution value that quantifies how much it pushed a prediction toward or away from the anomaly class.</a:t>
            </a:r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Summary Plot: displays all features ranked by mean absolute SHAP value, providing a global view of which features most influence anomaly detection across the dataset.</a:t>
            </a:r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Dot Plot: shows individual SHAP values for every data point per feature, revealing directional impact, whether a high or low feature value drives anomaly classification.</a:t>
            </a:r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Waterfall Plot: provides a local, instance-level explanation showing how each feature contributed to the anomaly score of a single flagged data point.</a:t>
            </a:r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Integrating SHAP transforms the system from a black-box detector into a transparent, interpretable, and audit-ready data quality tool.</a:t>
            </a:r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FE9868-37D3-7DA9-A005-896329033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A57CABD-31A6-1C02-0652-C903B61B6C99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FE2D82E-BDCE-92FD-B39C-D12DF68823B4}"/>
              </a:ext>
            </a:extLst>
          </p:cNvPr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SHAP-Based Explainability (</a:t>
            </a:r>
            <a:r>
              <a:rPr lang="en-US" sz="2400" b="1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Cotn</a:t>
            </a: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.,)</a:t>
            </a:r>
            <a:endParaRPr lang="en-US" sz="2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5B4A6A0-0EEB-CBDD-7634-77BA7539A6BD}"/>
              </a:ext>
            </a:extLst>
          </p:cNvPr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460DAB4-C3FD-6CA0-60F1-EF491E4043FE}"/>
              </a:ext>
            </a:extLst>
          </p:cNvPr>
          <p:cNvSpPr/>
          <p:nvPr/>
        </p:nvSpPr>
        <p:spPr>
          <a:xfrm>
            <a:off x="320040" y="906780"/>
            <a:ext cx="8503920" cy="3977640"/>
          </a:xfrm>
          <a:prstGeom prst="rect">
            <a:avLst/>
          </a:prstGeom>
          <a:solidFill>
            <a:srgbClr val="FFFFFF"/>
          </a:solidFill>
          <a:ln w="10160">
            <a:solidFill>
              <a:srgbClr val="C0C0D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EA151D0-B90C-F0FD-69F6-7AB06902E438}"/>
              </a:ext>
            </a:extLst>
          </p:cNvPr>
          <p:cNvSpPr/>
          <p:nvPr/>
        </p:nvSpPr>
        <p:spPr>
          <a:xfrm>
            <a:off x="320040" y="906780"/>
            <a:ext cx="73152" cy="3977640"/>
          </a:xfrm>
          <a:prstGeom prst="rect">
            <a:avLst/>
          </a:prstGeom>
          <a:solidFill>
            <a:srgbClr val="A084CA"/>
          </a:solidFill>
          <a:ln w="12700">
            <a:solidFill>
              <a:srgbClr val="A084CA"/>
            </a:solidFill>
            <a:prstDash val="solid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A2F28C-5B6C-AF68-CD64-271A08C2C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486" y="1143000"/>
            <a:ext cx="6597462" cy="360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370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98FC3D-C5A2-39BE-C906-3349A7348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2E32E78-4DBF-495B-26F3-AA1FA564CB8A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2189F35-EDF8-6AA5-C189-90976100CF81}"/>
              </a:ext>
            </a:extLst>
          </p:cNvPr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SHAP-Based Explainability (</a:t>
            </a:r>
            <a:r>
              <a:rPr lang="en-US" sz="2400" b="1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Cotn</a:t>
            </a: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.,)</a:t>
            </a:r>
            <a:endParaRPr lang="en-US" sz="2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9866C5E-2267-3821-C93A-CEB3D04B6658}"/>
              </a:ext>
            </a:extLst>
          </p:cNvPr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D136839-0E3A-E527-73CC-BD6508F29B6C}"/>
              </a:ext>
            </a:extLst>
          </p:cNvPr>
          <p:cNvSpPr/>
          <p:nvPr/>
        </p:nvSpPr>
        <p:spPr>
          <a:xfrm>
            <a:off x="320040" y="906780"/>
            <a:ext cx="8503920" cy="3977640"/>
          </a:xfrm>
          <a:prstGeom prst="rect">
            <a:avLst/>
          </a:prstGeom>
          <a:solidFill>
            <a:srgbClr val="FFFFFF"/>
          </a:solidFill>
          <a:ln w="10160">
            <a:solidFill>
              <a:srgbClr val="C0C0D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379197D-D9E5-8761-0CA0-D5A562F9C499}"/>
              </a:ext>
            </a:extLst>
          </p:cNvPr>
          <p:cNvSpPr/>
          <p:nvPr/>
        </p:nvSpPr>
        <p:spPr>
          <a:xfrm>
            <a:off x="320040" y="906780"/>
            <a:ext cx="73152" cy="3977640"/>
          </a:xfrm>
          <a:prstGeom prst="rect">
            <a:avLst/>
          </a:prstGeom>
          <a:solidFill>
            <a:srgbClr val="A084CA"/>
          </a:solidFill>
          <a:ln w="12700">
            <a:solidFill>
              <a:srgbClr val="A084CA"/>
            </a:solidFill>
            <a:prstDash val="solid"/>
          </a:ln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FD4D6C-9C81-2BCE-7776-4D4854332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053" y="1549400"/>
            <a:ext cx="8070394" cy="267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134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1EABB0-502C-4BAD-83CE-EE6020579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E1EA51F-526A-D4DD-CA34-A25BFFD33759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01DEF83-422A-1A11-5325-486E207F2EAB}"/>
              </a:ext>
            </a:extLst>
          </p:cNvPr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SHAP-Based Explainability (</a:t>
            </a:r>
            <a:r>
              <a:rPr lang="en-US" sz="2400" b="1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Cotn</a:t>
            </a: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.,)</a:t>
            </a:r>
            <a:endParaRPr lang="en-US" sz="2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3C2F41B-7C4E-6619-BE9E-2D58DD4D4A92}"/>
              </a:ext>
            </a:extLst>
          </p:cNvPr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2116BDA-EEBA-B4A3-A7E5-9FFB075B41EE}"/>
              </a:ext>
            </a:extLst>
          </p:cNvPr>
          <p:cNvSpPr/>
          <p:nvPr/>
        </p:nvSpPr>
        <p:spPr>
          <a:xfrm>
            <a:off x="320040" y="906780"/>
            <a:ext cx="8503920" cy="3977640"/>
          </a:xfrm>
          <a:prstGeom prst="rect">
            <a:avLst/>
          </a:prstGeom>
          <a:solidFill>
            <a:srgbClr val="FFFFFF"/>
          </a:solidFill>
          <a:ln w="10160">
            <a:solidFill>
              <a:srgbClr val="C0C0D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760B1EC-88C7-F16B-D6E4-886D4CC53D88}"/>
              </a:ext>
            </a:extLst>
          </p:cNvPr>
          <p:cNvSpPr/>
          <p:nvPr/>
        </p:nvSpPr>
        <p:spPr>
          <a:xfrm>
            <a:off x="320040" y="906780"/>
            <a:ext cx="73152" cy="3977640"/>
          </a:xfrm>
          <a:prstGeom prst="rect">
            <a:avLst/>
          </a:prstGeom>
          <a:solidFill>
            <a:srgbClr val="A084CA"/>
          </a:solidFill>
          <a:ln w="12700">
            <a:solidFill>
              <a:srgbClr val="A084CA"/>
            </a:solidFill>
            <a:prstDash val="solid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31C9C9-506B-A6B6-BFE5-E2BD805AA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21" y="1485901"/>
            <a:ext cx="7855879" cy="267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57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FCE1E5-DE23-B01F-CEB6-72E175122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9694B8E-C142-7D61-8D29-0F9121A79576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3E6F709-8A3F-4429-C5F1-AF2289B29BF7}"/>
              </a:ext>
            </a:extLst>
          </p:cNvPr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SHAP-Based Explainability (</a:t>
            </a:r>
            <a:r>
              <a:rPr lang="en-US" sz="2400" b="1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Cotn</a:t>
            </a: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.,)</a:t>
            </a:r>
            <a:endParaRPr lang="en-US" sz="2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AA3330F-C16D-F3E8-D585-52F925B68D22}"/>
              </a:ext>
            </a:extLst>
          </p:cNvPr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3F3B414-CD3C-E866-EE63-CC3AE5C13EE0}"/>
              </a:ext>
            </a:extLst>
          </p:cNvPr>
          <p:cNvSpPr/>
          <p:nvPr/>
        </p:nvSpPr>
        <p:spPr>
          <a:xfrm>
            <a:off x="320040" y="906780"/>
            <a:ext cx="8503920" cy="3977640"/>
          </a:xfrm>
          <a:prstGeom prst="rect">
            <a:avLst/>
          </a:prstGeom>
          <a:solidFill>
            <a:srgbClr val="FFFFFF"/>
          </a:solidFill>
          <a:ln w="10160">
            <a:solidFill>
              <a:srgbClr val="C0C0D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DA26655-C490-E9D2-1977-2E4B8D76F42F}"/>
              </a:ext>
            </a:extLst>
          </p:cNvPr>
          <p:cNvSpPr/>
          <p:nvPr/>
        </p:nvSpPr>
        <p:spPr>
          <a:xfrm>
            <a:off x="320040" y="906780"/>
            <a:ext cx="73152" cy="3977640"/>
          </a:xfrm>
          <a:prstGeom prst="rect">
            <a:avLst/>
          </a:prstGeom>
          <a:solidFill>
            <a:srgbClr val="A084CA"/>
          </a:solidFill>
          <a:ln w="12700">
            <a:solidFill>
              <a:srgbClr val="A084CA"/>
            </a:solidFill>
            <a:prstDash val="solid"/>
          </a:ln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4FB52F-20A7-5CA7-DE54-3BC488E68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677116"/>
            <a:ext cx="7866184" cy="255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2220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Metrics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59664" y="937260"/>
            <a:ext cx="2651760" cy="1908048"/>
          </a:xfrm>
          <a:prstGeom prst="rect">
            <a:avLst/>
          </a:prstGeom>
          <a:solidFill>
            <a:srgbClr val="FFFFFF"/>
          </a:solidFill>
          <a:ln w="10160">
            <a:solidFill>
              <a:srgbClr val="C0C0D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22960"/>
            <a:ext cx="2651760" cy="384048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229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261872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5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 + FP)</a:t>
            </a:r>
            <a:endParaRPr lang="en-US" sz="1500" b="1" dirty="0"/>
          </a:p>
        </p:txBody>
      </p:sp>
      <p:sp>
        <p:nvSpPr>
          <p:cNvPr id="11" name="Text 9"/>
          <p:cNvSpPr/>
          <p:nvPr/>
        </p:nvSpPr>
        <p:spPr>
          <a:xfrm>
            <a:off x="493776" y="1737360"/>
            <a:ext cx="2414016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400" i="1" dirty="0"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0" indent="0" algn="ctr">
              <a:buNone/>
            </a:pPr>
            <a:r>
              <a:rPr lang="en-US" sz="1400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precision means fewer false alarms.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38500" y="928878"/>
            <a:ext cx="2651760" cy="1916430"/>
          </a:xfrm>
          <a:prstGeom prst="rect">
            <a:avLst/>
          </a:prstGeom>
          <a:solidFill>
            <a:srgbClr val="FFFFFF"/>
          </a:solidFill>
          <a:ln w="10160">
            <a:solidFill>
              <a:srgbClr val="C0C0D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822960"/>
            <a:ext cx="2651760" cy="384048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8229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Recall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37560" y="1261872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5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 + FN)</a:t>
            </a:r>
            <a:endParaRPr lang="en-US" sz="1500" b="1" dirty="0"/>
          </a:p>
        </p:txBody>
      </p:sp>
      <p:sp>
        <p:nvSpPr>
          <p:cNvPr id="16" name="Text 14"/>
          <p:cNvSpPr/>
          <p:nvPr/>
        </p:nvSpPr>
        <p:spPr>
          <a:xfrm>
            <a:off x="3374136" y="1737360"/>
            <a:ext cx="2414016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400" i="1" dirty="0"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0" indent="0" algn="ctr">
              <a:buNone/>
            </a:pPr>
            <a:r>
              <a:rPr lang="en-US" sz="1400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recall means fewer missed anomalies.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937260"/>
            <a:ext cx="2651760" cy="1908048"/>
          </a:xfrm>
          <a:prstGeom prst="rect">
            <a:avLst/>
          </a:prstGeom>
          <a:solidFill>
            <a:srgbClr val="FFFFFF"/>
          </a:solidFill>
          <a:ln w="10160">
            <a:solidFill>
              <a:srgbClr val="C0C0D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822960"/>
            <a:ext cx="2651760" cy="384048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8229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F1-Score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17920" y="1261872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5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× P × R / (P + R)</a:t>
            </a:r>
            <a:endParaRPr lang="en-US" sz="1500" b="1" dirty="0"/>
          </a:p>
        </p:txBody>
      </p:sp>
      <p:sp>
        <p:nvSpPr>
          <p:cNvPr id="21" name="Text 19"/>
          <p:cNvSpPr/>
          <p:nvPr/>
        </p:nvSpPr>
        <p:spPr>
          <a:xfrm>
            <a:off x="6254496" y="1737360"/>
            <a:ext cx="2414016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400" i="1" dirty="0"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0" indent="0" algn="ctr">
              <a:buNone/>
            </a:pPr>
            <a:r>
              <a:rPr lang="en-US" sz="1400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Overall balance.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0040" y="3209036"/>
            <a:ext cx="8503920" cy="1542288"/>
          </a:xfrm>
          <a:prstGeom prst="rect">
            <a:avLst/>
          </a:prstGeom>
          <a:solidFill>
            <a:srgbClr val="FFFFFF"/>
          </a:solidFill>
          <a:ln w="10160">
            <a:solidFill>
              <a:srgbClr val="C0C0D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196336"/>
            <a:ext cx="73152" cy="1572768"/>
          </a:xfrm>
          <a:prstGeom prst="rect">
            <a:avLst/>
          </a:prstGeom>
          <a:solidFill>
            <a:srgbClr val="A084CA"/>
          </a:solidFill>
          <a:ln w="12700">
            <a:solidFill>
              <a:srgbClr val="A084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369056"/>
            <a:ext cx="8229600" cy="1344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800"/>
              </a:spcAft>
              <a:buSzPct val="100000"/>
            </a:pPr>
            <a:endParaRPr lang="en-US" sz="1700" dirty="0">
              <a:solidFill>
                <a:srgbClr val="2D2B3D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sz="1700" dirty="0">
                <a:solidFill>
                  <a:srgbClr val="2D2B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model (IF, LOF, SVM) is evaluated against the consensus label to assess agreement and detect under-performing models.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and Output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440376951"/>
              </p:ext>
            </p:extLst>
          </p:nvPr>
        </p:nvGraphicFramePr>
        <p:xfrm>
          <a:off x="274320" y="918972"/>
          <a:ext cx="5303520" cy="38816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715000" y="926592"/>
            <a:ext cx="3154680" cy="3881628"/>
          </a:xfrm>
          <a:prstGeom prst="rect">
            <a:avLst/>
          </a:prstGeom>
          <a:solidFill>
            <a:srgbClr val="FFFFFF"/>
          </a:solidFill>
          <a:ln w="10160">
            <a:solidFill>
              <a:srgbClr val="C0C0D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15000" y="926592"/>
            <a:ext cx="91440" cy="3881628"/>
          </a:xfrm>
          <a:prstGeom prst="rect">
            <a:avLst/>
          </a:prstGeom>
          <a:solidFill>
            <a:srgbClr val="A084CA"/>
          </a:solidFill>
          <a:ln w="12700">
            <a:solidFill>
              <a:srgbClr val="A084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97880" y="1661160"/>
            <a:ext cx="2880360" cy="23241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7F56CF38-265A-8546-2931-B8134E2F4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7880" y="1871186"/>
            <a:ext cx="306045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614 records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149 missing values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106 consensus anomalies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lang="en-US" altLang="en-US" dirty="0">
                <a:latin typeface="Bahnschrift" panose="020B0502040204020203" pitchFamily="34" charset="0"/>
              </a:rPr>
              <a:t>Q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uality </a:t>
            </a:r>
            <a:r>
              <a:rPr lang="en-US" altLang="en-US" dirty="0">
                <a:latin typeface="Bahnschrift" panose="020B0502040204020203" pitchFamily="34" charset="0"/>
              </a:rPr>
              <a:t>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core = 90.6%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Interface - Streamlit Dashboard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F7B28E-88F4-B89B-4EE4-6D8C20897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700631"/>
            <a:ext cx="8650732" cy="439056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B1CB61-B9B7-6308-BDB8-83176CA01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6133442-D6ED-F99A-A28A-F18D6BCCC0BC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8DF582A-1CA6-5DB4-989E-3FF4EA4257A7}"/>
              </a:ext>
            </a:extLst>
          </p:cNvPr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Interface - </a:t>
            </a:r>
            <a:r>
              <a:rPr lang="en-US" sz="2400" b="1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Streamlit</a:t>
            </a: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Dashboard (</a:t>
            </a:r>
            <a:r>
              <a:rPr lang="en-US" sz="2400" b="1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Contn</a:t>
            </a: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.)</a:t>
            </a:r>
            <a:endParaRPr lang="en-US" sz="2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716BE5F-A939-7642-9206-2E5233588EB8}"/>
              </a:ext>
            </a:extLst>
          </p:cNvPr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26310FBD-9301-9F4F-5118-43D7E1F02967}"/>
              </a:ext>
            </a:extLst>
          </p:cNvPr>
          <p:cNvSpPr/>
          <p:nvPr/>
        </p:nvSpPr>
        <p:spPr>
          <a:xfrm>
            <a:off x="320040" y="1478788"/>
            <a:ext cx="8503920" cy="2542032"/>
          </a:xfrm>
          <a:prstGeom prst="rect">
            <a:avLst/>
          </a:prstGeom>
          <a:solidFill>
            <a:srgbClr val="FFFFFF"/>
          </a:solidFill>
          <a:ln w="10160">
            <a:solidFill>
              <a:srgbClr val="C0C0D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EFB64CDC-9294-76E8-FF41-2F80AFA616EF}"/>
              </a:ext>
            </a:extLst>
          </p:cNvPr>
          <p:cNvSpPr/>
          <p:nvPr/>
        </p:nvSpPr>
        <p:spPr>
          <a:xfrm>
            <a:off x="320040" y="1504188"/>
            <a:ext cx="73152" cy="2542032"/>
          </a:xfrm>
          <a:prstGeom prst="rect">
            <a:avLst/>
          </a:prstGeom>
          <a:solidFill>
            <a:srgbClr val="A084CA"/>
          </a:solidFill>
          <a:ln w="12700">
            <a:solidFill>
              <a:srgbClr val="A084CA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59C5FFD-43FC-CD19-9373-6A32C9C931FB}"/>
              </a:ext>
            </a:extLst>
          </p:cNvPr>
          <p:cNvSpPr/>
          <p:nvPr/>
        </p:nvSpPr>
        <p:spPr>
          <a:xfrm>
            <a:off x="493776" y="1897888"/>
            <a:ext cx="8229600" cy="2313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Users can upload any numerical CSV file; the pipeline auto-validates, preprocesses, and runs all three models without any manual configuration.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dashboard renders side-by-side model comparison charts and interactive SHAP plots (summary, dot, waterfall) directly in the browser.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Flagged anomaly records with their consensus label and SHAP values can be downloaded as a CSV report for audit and review.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553588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06780"/>
            <a:ext cx="8503920" cy="3977640"/>
          </a:xfrm>
          <a:prstGeom prst="rect">
            <a:avLst/>
          </a:prstGeom>
          <a:solidFill>
            <a:srgbClr val="FFFFFF"/>
          </a:solidFill>
          <a:ln w="10160">
            <a:solidFill>
              <a:srgbClr val="C0C0D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06780"/>
            <a:ext cx="73152" cy="3977640"/>
          </a:xfrm>
          <a:prstGeom prst="rect">
            <a:avLst/>
          </a:prstGeom>
          <a:solidFill>
            <a:srgbClr val="A084CA"/>
          </a:solidFill>
          <a:ln w="12700">
            <a:solidFill>
              <a:srgbClr val="A084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43940"/>
            <a:ext cx="8229600" cy="3749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fully automated, end-to-end data quality management system was successfully designed and implemented for noise detection in numerical data pipelines.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ensemble approach combining Isolation Forest, LOF, and One-Class SVM with 2-out-of-3 consensus voting delivers higher accuracy and robustness than any single model alone.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Integration of SHAP explainability bridges the gap between algorithmic detection and human-interpretable insight, making the system transparent and audit-ready.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</a:t>
            </a:r>
            <a:r>
              <a:rPr lang="en-US" sz="1700" dirty="0" err="1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Streamlit</a:t>
            </a:r>
            <a:r>
              <a:rPr lang="en-US" sz="17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dashboard provides a practical, accessible interface that enables non-technical stakeholders to use the system without programming knowledge.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project contributes a reusable, modular, and extensible pipeline architecture applicable to any numerical CSV dataset across domains such as IoT, healthcare, and industrial monitoring.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4069080" cy="420624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78992"/>
            <a:ext cx="4069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Deployment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499616"/>
            <a:ext cx="4069080" cy="3236976"/>
          </a:xfrm>
          <a:prstGeom prst="rect">
            <a:avLst/>
          </a:prstGeom>
          <a:solidFill>
            <a:srgbClr val="FFFFFF"/>
          </a:solidFill>
          <a:ln w="10160">
            <a:solidFill>
              <a:srgbClr val="C0C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627632"/>
            <a:ext cx="379476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D2B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 the Streamlit application on AWS, GCP, or Azure to enable remote, multi-user access at scale.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D2B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Integrate cloud-based object storage (e.g., AWS S3) for persistent dataset management and result archiving.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D2B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Containerise the pipeline using Docker and orchestrate with Kubernetes for production-grade reliability and scalability.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09160" y="1078992"/>
            <a:ext cx="4069080" cy="420624"/>
          </a:xfrm>
          <a:prstGeom prst="rect">
            <a:avLst/>
          </a:prstGeom>
          <a:solidFill>
            <a:srgbClr val="A084CA"/>
          </a:solidFill>
          <a:ln w="12700">
            <a:solidFill>
              <a:srgbClr val="A084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078992"/>
            <a:ext cx="4069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Streaming Pipeline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09160" y="1499616"/>
            <a:ext cx="4069080" cy="3236976"/>
          </a:xfrm>
          <a:prstGeom prst="rect">
            <a:avLst/>
          </a:prstGeom>
          <a:solidFill>
            <a:srgbClr val="FFFFFF"/>
          </a:solidFill>
          <a:ln w="10160">
            <a:solidFill>
              <a:srgbClr val="C0C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1627632"/>
            <a:ext cx="379476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D2B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Integrate Apache Kafka as a streaming data ingestion layer to process live feeds in real time.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D2B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Replace batch SQLite storage with Apache Spark Structured Streaming for high-throughput, low-latency processing.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D2B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Extend the SHAP explainability module to generate live anomaly explanations as data streams through the pipeline.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669063-DA94-00F6-8E6E-69FB8B7E3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9FA5A7A-36C8-BB19-A5E1-325CC4840EC0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CEF8873-78E3-0CE3-654B-183703F7563A}"/>
              </a:ext>
            </a:extLst>
          </p:cNvPr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8A03B6A-9347-B963-FD56-71F697458E09}"/>
              </a:ext>
            </a:extLst>
          </p:cNvPr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E78C371-E764-A611-EBE4-E82D448385EF}"/>
              </a:ext>
            </a:extLst>
          </p:cNvPr>
          <p:cNvSpPr/>
          <p:nvPr/>
        </p:nvSpPr>
        <p:spPr>
          <a:xfrm>
            <a:off x="338328" y="906780"/>
            <a:ext cx="8503920" cy="3977640"/>
          </a:xfrm>
          <a:prstGeom prst="rect">
            <a:avLst/>
          </a:prstGeom>
          <a:solidFill>
            <a:srgbClr val="FFFFFF"/>
          </a:solidFill>
          <a:ln w="10160">
            <a:solidFill>
              <a:srgbClr val="C0C0D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2CDC99E-BAAD-9228-562E-91B7CB289D82}"/>
              </a:ext>
            </a:extLst>
          </p:cNvPr>
          <p:cNvSpPr/>
          <p:nvPr/>
        </p:nvSpPr>
        <p:spPr>
          <a:xfrm>
            <a:off x="320040" y="914400"/>
            <a:ext cx="73152" cy="3977640"/>
          </a:xfrm>
          <a:prstGeom prst="rect">
            <a:avLst/>
          </a:prstGeom>
          <a:solidFill>
            <a:srgbClr val="A084CA"/>
          </a:solidFill>
          <a:ln w="12700">
            <a:solidFill>
              <a:srgbClr val="A084CA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60057D4-6320-7222-C077-9345BC408010}"/>
              </a:ext>
            </a:extLst>
          </p:cNvPr>
          <p:cNvSpPr/>
          <p:nvPr/>
        </p:nvSpPr>
        <p:spPr>
          <a:xfrm>
            <a:off x="502920" y="1465580"/>
            <a:ext cx="8229600" cy="3444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900"/>
              </a:spcAft>
              <a:buSzPct val="100000"/>
            </a:pPr>
            <a:endParaRPr lang="en-US" sz="1700" dirty="0"/>
          </a:p>
          <a:p>
            <a:pPr>
              <a:spcAft>
                <a:spcPts val="900"/>
              </a:spcAft>
              <a:buSzPct val="100000"/>
            </a:pPr>
            <a:endParaRPr lang="en-US" sz="1700" dirty="0"/>
          </a:p>
          <a:p>
            <a:pPr>
              <a:spcAft>
                <a:spcPts val="900"/>
              </a:spcAft>
              <a:buSzPct val="100000"/>
            </a:pPr>
            <a:endParaRPr lang="en-US" sz="1700" dirty="0"/>
          </a:p>
          <a:p>
            <a:pPr algn="ctr">
              <a:spcAft>
                <a:spcPts val="900"/>
              </a:spcAft>
              <a:buSzPct val="100000"/>
            </a:pP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</a:rPr>
              <a:t>THANK YOU</a:t>
            </a:r>
          </a:p>
          <a:p>
            <a:pPr algn="ctr">
              <a:spcAft>
                <a:spcPts val="900"/>
              </a:spcAft>
              <a:buSzPct val="100000"/>
            </a:pP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145190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1049</TotalTime>
  <Words>1984</Words>
  <Application>Microsoft Office PowerPoint</Application>
  <PresentationFormat>On-screen Show (16:9)</PresentationFormat>
  <Paragraphs>243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Arial Black</vt:lpstr>
      <vt:lpstr>Bahnschrift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AI-Based Automated Data Quality Management System</dc:title>
  <dc:subject>PptxGenJS Presentation</dc:subject>
  <dc:creator>PptxGenJS</dc:creator>
  <cp:lastModifiedBy>priya dharshini</cp:lastModifiedBy>
  <cp:revision>9</cp:revision>
  <dcterms:created xsi:type="dcterms:W3CDTF">2026-04-01T11:36:51Z</dcterms:created>
  <dcterms:modified xsi:type="dcterms:W3CDTF">2026-05-05T08:42:19Z</dcterms:modified>
</cp:coreProperties>
</file>